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583A"/>
    <a:srgbClr val="73B6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F1A88-B435-48AA-81BB-3BE586527344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A07A6-7D44-48A0-A662-8D07770B8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45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A07A6-7D44-48A0-A662-8D07770B8D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68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EE8477-60DB-FD4C-B510-B77089FF9EF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96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EE8477-60DB-FD4C-B510-B77089FF9EF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03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an estimator is its average error for different training sets.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variance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an estimator indicates how sensitive it is to varying training sets.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EE8477-60DB-FD4C-B510-B77089FF9EF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07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9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6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87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52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4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1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44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34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45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8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7AA0E9-7096-E241-B54C-D062C3CCEB95}" type="datetimeFigureOut">
              <a:rPr lang="en-US" smtClean="0"/>
              <a:t>10/20/2015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60F7F0-C605-A048-B318-547C4C768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2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1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0F583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Deterministic_syste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forge.net/doc/packages/hydroGOF/mse.html" TargetMode="External"/><Relationship Id="rId2" Type="http://schemas.openxmlformats.org/officeDocument/2006/relationships/hyperlink" Target="http://scott.fortmann-roe.com/docs/BiasVarianc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cikit-learn.org/stable/modules/cross_valida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630" y="136477"/>
            <a:ext cx="7772400" cy="2292824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115639"/>
                </a:solidFill>
              </a:rPr>
              <a:t>Explanatory and Predictive Modelling</a:t>
            </a:r>
            <a:endParaRPr lang="en-US" dirty="0">
              <a:solidFill>
                <a:srgbClr val="115639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8418" y="2429301"/>
            <a:ext cx="4797187" cy="2756848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rgbClr val="73B632"/>
                </a:solidFill>
              </a:rPr>
              <a:t>-Sushma Babburi</a:t>
            </a:r>
          </a:p>
          <a:p>
            <a:r>
              <a:rPr lang="en-US" sz="2800" dirty="0" smtClean="0">
                <a:solidFill>
                  <a:srgbClr val="73B632"/>
                </a:solidFill>
              </a:rPr>
              <a:t>-Naveen Kumar Ramba</a:t>
            </a:r>
          </a:p>
          <a:p>
            <a:r>
              <a:rPr lang="en-US" sz="2800" dirty="0" smtClean="0">
                <a:solidFill>
                  <a:srgbClr val="73B632"/>
                </a:solidFill>
              </a:rPr>
              <a:t>-Krishma Punjabi</a:t>
            </a:r>
          </a:p>
          <a:p>
            <a:r>
              <a:rPr lang="en-US" sz="2800" dirty="0">
                <a:solidFill>
                  <a:srgbClr val="73B632"/>
                </a:solidFill>
              </a:rPr>
              <a:t>-</a:t>
            </a:r>
            <a:r>
              <a:rPr lang="en-US" sz="2800" dirty="0" smtClean="0">
                <a:solidFill>
                  <a:srgbClr val="73B632"/>
                </a:solidFill>
              </a:rPr>
              <a:t>Gaurav Jetley</a:t>
            </a:r>
            <a:endParaRPr lang="en-US" sz="2800" dirty="0">
              <a:solidFill>
                <a:srgbClr val="73B6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15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Model and Computation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Embodies set of assumptions concerning the generation of </a:t>
            </a:r>
            <a:r>
              <a:rPr lang="en-US" dirty="0"/>
              <a:t>observed </a:t>
            </a:r>
            <a:r>
              <a:rPr lang="en-US" dirty="0" smtClean="0"/>
              <a:t>data and </a:t>
            </a:r>
            <a:r>
              <a:rPr lang="en-US" dirty="0"/>
              <a:t>similar data from a larger </a:t>
            </a:r>
            <a:r>
              <a:rPr lang="en-US" dirty="0" smtClean="0"/>
              <a:t>population.</a:t>
            </a:r>
          </a:p>
          <a:p>
            <a:r>
              <a:rPr lang="en-US" dirty="0"/>
              <a:t>non-</a:t>
            </a:r>
            <a:r>
              <a:rPr lang="en-US" dirty="0">
                <a:hlinkClick r:id="rId2"/>
              </a:rPr>
              <a:t>deterministic</a:t>
            </a:r>
            <a:endParaRPr lang="en-US" dirty="0"/>
          </a:p>
          <a:p>
            <a:r>
              <a:rPr lang="en-US" dirty="0" smtClean="0"/>
              <a:t>Three purposes:</a:t>
            </a:r>
          </a:p>
          <a:p>
            <a:pPr lvl="1"/>
            <a:r>
              <a:rPr lang="en-US" dirty="0" smtClean="0"/>
              <a:t>Predictions</a:t>
            </a:r>
          </a:p>
          <a:p>
            <a:pPr lvl="1"/>
            <a:r>
              <a:rPr lang="en-US" dirty="0"/>
              <a:t>Extraction of </a:t>
            </a:r>
            <a:r>
              <a:rPr lang="en-US" dirty="0" smtClean="0"/>
              <a:t>information</a:t>
            </a:r>
          </a:p>
          <a:p>
            <a:pPr lvl="1"/>
            <a:r>
              <a:rPr lang="en-US" dirty="0"/>
              <a:t>Description of stochastic </a:t>
            </a:r>
            <a:r>
              <a:rPr lang="en-US" dirty="0" smtClean="0"/>
              <a:t>structures(probability distribution)</a:t>
            </a:r>
          </a:p>
        </p:txBody>
      </p:sp>
    </p:spTree>
    <p:extLst>
      <p:ext uri="{BB962C8B-B14F-4D97-AF65-F5344CB8AC3E}">
        <p14:creationId xmlns:p14="http://schemas.microsoft.com/office/powerpoint/2010/main" val="70390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2264"/>
            <a:ext cx="8229600" cy="55939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Mathematical representation:</a:t>
            </a:r>
          </a:p>
          <a:p>
            <a:pPr marL="0" indent="0">
              <a:buNone/>
            </a:pPr>
            <a:r>
              <a:rPr lang="en-US" dirty="0"/>
              <a:t>				statistical model=Pair (</a:t>
            </a:r>
            <a:r>
              <a:rPr lang="en-US" i="1" dirty="0"/>
              <a:t>S,P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S</a:t>
            </a:r>
            <a:r>
              <a:rPr lang="en-US" dirty="0"/>
              <a:t> , sample space</a:t>
            </a:r>
          </a:p>
          <a:p>
            <a:pPr lvl="1"/>
            <a:r>
              <a:rPr lang="en-US" i="1" dirty="0"/>
              <a:t>P</a:t>
            </a:r>
            <a:r>
              <a:rPr lang="en-US" dirty="0"/>
              <a:t> , set of probability distributions on </a:t>
            </a:r>
            <a:r>
              <a:rPr lang="en-US" i="1" dirty="0"/>
              <a:t>S</a:t>
            </a:r>
          </a:p>
          <a:p>
            <a:r>
              <a:rPr lang="en-US" dirty="0" smtClean="0"/>
              <a:t>Statistical hypothesis tests and statistical estimators are derived from statistical models.</a:t>
            </a:r>
          </a:p>
          <a:p>
            <a:r>
              <a:rPr lang="en-US" dirty="0"/>
              <a:t>Statistical Modelling is a Powerful tool for developing and testing theories.</a:t>
            </a:r>
          </a:p>
          <a:p>
            <a:r>
              <a:rPr lang="en-IN" dirty="0" smtClean="0"/>
              <a:t>Statistical Computation aims at </a:t>
            </a:r>
            <a:r>
              <a:rPr lang="en-US" dirty="0"/>
              <a:t>design of </a:t>
            </a:r>
            <a:r>
              <a:rPr lang="en-US" dirty="0" smtClean="0"/>
              <a:t>algorithm</a:t>
            </a:r>
            <a:r>
              <a:rPr lang="en-US" dirty="0"/>
              <a:t> </a:t>
            </a:r>
            <a:r>
              <a:rPr lang="en-US" dirty="0" smtClean="0"/>
              <a:t>for </a:t>
            </a:r>
            <a:r>
              <a:rPr lang="en-US" dirty="0"/>
              <a:t>implementing statistical methods on </a:t>
            </a:r>
            <a:r>
              <a:rPr lang="en-US" dirty="0" smtClean="0"/>
              <a:t>computers.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91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4525"/>
          </a:xfrm>
        </p:spPr>
        <p:txBody>
          <a:bodyPr/>
          <a:lstStyle/>
          <a:p>
            <a:r>
              <a:rPr lang="en-IN" dirty="0" smtClean="0"/>
              <a:t>CRISP-DM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91570"/>
            <a:ext cx="8229600" cy="5334593"/>
          </a:xfrm>
        </p:spPr>
        <p:txBody>
          <a:bodyPr/>
          <a:lstStyle/>
          <a:p>
            <a:r>
              <a:rPr lang="en-IN" dirty="0"/>
              <a:t>Cross Industry Standard Process for Data </a:t>
            </a:r>
            <a:r>
              <a:rPr lang="en-IN" dirty="0" smtClean="0"/>
              <a:t>Mining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52" y="1760560"/>
            <a:ext cx="6878472" cy="500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13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Tasks for data mining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5909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 smtClean="0"/>
              <a:t>There </a:t>
            </a:r>
            <a:r>
              <a:rPr lang="en-IN" dirty="0"/>
              <a:t>are four main tasks</a:t>
            </a:r>
            <a:r>
              <a:rPr lang="en-IN" dirty="0" smtClean="0"/>
              <a:t>:</a:t>
            </a:r>
          </a:p>
          <a:p>
            <a:r>
              <a:rPr lang="en-IN" b="1" dirty="0" smtClean="0"/>
              <a:t>Prediction</a:t>
            </a:r>
            <a:r>
              <a:rPr lang="en-IN" b="1" dirty="0"/>
              <a:t>:</a:t>
            </a:r>
            <a:r>
              <a:rPr lang="en-IN" dirty="0" smtClean="0"/>
              <a:t> </a:t>
            </a:r>
          </a:p>
          <a:p>
            <a:pPr lvl="1"/>
            <a:r>
              <a:rPr lang="en-IN" dirty="0" smtClean="0"/>
              <a:t>Regression:-	Predicting </a:t>
            </a:r>
            <a:r>
              <a:rPr lang="en-IN" dirty="0"/>
              <a:t>a real </a:t>
            </a:r>
            <a:r>
              <a:rPr lang="en-IN" dirty="0" smtClean="0"/>
              <a:t>number.</a:t>
            </a:r>
          </a:p>
          <a:p>
            <a:pPr lvl="1"/>
            <a:r>
              <a:rPr lang="en-IN" dirty="0" smtClean="0"/>
              <a:t>Classification:-	Predicting </a:t>
            </a:r>
            <a:r>
              <a:rPr lang="en-IN" dirty="0"/>
              <a:t>a whole number or </a:t>
            </a:r>
            <a:r>
              <a:rPr lang="en-IN" dirty="0" smtClean="0"/>
              <a:t>class.</a:t>
            </a:r>
          </a:p>
          <a:p>
            <a:pPr marL="2286000" lvl="5" indent="0">
              <a:buNone/>
            </a:pPr>
            <a:r>
              <a:rPr lang="en-IN" sz="2900" dirty="0"/>
              <a:t>Instance of Supervised </a:t>
            </a:r>
            <a:r>
              <a:rPr lang="en-IN" sz="2900" dirty="0" smtClean="0"/>
              <a:t>Learning.</a:t>
            </a:r>
            <a:endParaRPr lang="en-IN" sz="2900" dirty="0"/>
          </a:p>
          <a:p>
            <a:r>
              <a:rPr lang="en-IN" b="1" dirty="0" smtClean="0"/>
              <a:t>Modelling:</a:t>
            </a:r>
            <a:r>
              <a:rPr lang="en-IN" dirty="0" smtClean="0"/>
              <a:t> Same </a:t>
            </a:r>
            <a:r>
              <a:rPr lang="en-IN" dirty="0"/>
              <a:t>as prediction, but the model is comprehensible by </a:t>
            </a:r>
            <a:r>
              <a:rPr lang="en-IN" dirty="0" smtClean="0"/>
              <a:t>humans.</a:t>
            </a:r>
          </a:p>
          <a:p>
            <a:r>
              <a:rPr lang="en-IN" b="1" dirty="0" smtClean="0"/>
              <a:t>Similarity</a:t>
            </a:r>
            <a:r>
              <a:rPr lang="en-IN" b="1" dirty="0"/>
              <a:t>:</a:t>
            </a:r>
            <a:r>
              <a:rPr lang="en-IN" dirty="0" smtClean="0"/>
              <a:t> </a:t>
            </a:r>
          </a:p>
          <a:p>
            <a:pPr lvl="1"/>
            <a:r>
              <a:rPr lang="en-IN" dirty="0" smtClean="0"/>
              <a:t>Factor analysis:- Trying </a:t>
            </a:r>
            <a:r>
              <a:rPr lang="en-IN" dirty="0"/>
              <a:t>to find natural groups of </a:t>
            </a:r>
            <a:r>
              <a:rPr lang="en-IN" dirty="0" smtClean="0"/>
              <a:t>attributes.</a:t>
            </a:r>
          </a:p>
          <a:p>
            <a:pPr lvl="1"/>
            <a:r>
              <a:rPr lang="en-IN" dirty="0" smtClean="0"/>
              <a:t>Clustering:-	   Trying </a:t>
            </a:r>
            <a:r>
              <a:rPr lang="en-IN" dirty="0"/>
              <a:t>to find natural groups of </a:t>
            </a:r>
            <a:r>
              <a:rPr lang="en-IN" dirty="0" smtClean="0"/>
              <a:t>observations.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dirty="0" smtClean="0"/>
              <a:t>			   Instance of Unsupervised Learning.</a:t>
            </a:r>
            <a:endParaRPr lang="en-IN" dirty="0"/>
          </a:p>
          <a:p>
            <a:r>
              <a:rPr lang="en-IN" b="1" dirty="0" smtClean="0"/>
              <a:t>Association:</a:t>
            </a:r>
            <a:r>
              <a:rPr lang="en-IN" dirty="0" smtClean="0"/>
              <a:t> Much </a:t>
            </a:r>
            <a:r>
              <a:rPr lang="en-IN" dirty="0"/>
              <a:t>like correlation, but for enormous binary datasets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432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Explanatory Modelling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Refers to application </a:t>
            </a:r>
            <a:r>
              <a:rPr lang="en-US" dirty="0"/>
              <a:t>of statistical models to data for testing </a:t>
            </a:r>
            <a:r>
              <a:rPr lang="en-US" dirty="0" smtClean="0"/>
              <a:t>casual hypothesis </a:t>
            </a:r>
            <a:r>
              <a:rPr lang="en-US" dirty="0"/>
              <a:t>about theoretical </a:t>
            </a:r>
            <a:r>
              <a:rPr lang="en-US" dirty="0" smtClean="0"/>
              <a:t>constructs.</a:t>
            </a:r>
          </a:p>
          <a:p>
            <a:r>
              <a:rPr lang="en-US" dirty="0" smtClean="0"/>
              <a:t>In such models, a </a:t>
            </a:r>
            <a:r>
              <a:rPr lang="en-US" dirty="0"/>
              <a:t>set of underlying factors that are measured by variables </a:t>
            </a:r>
            <a:r>
              <a:rPr lang="en-US" i="1" dirty="0"/>
              <a:t>X</a:t>
            </a:r>
            <a:r>
              <a:rPr lang="en-US" dirty="0"/>
              <a:t> are assumed to cause an underlying effect, measured by variable </a:t>
            </a:r>
            <a:r>
              <a:rPr lang="en-US" i="1" dirty="0" smtClean="0"/>
              <a:t>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51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Predictive Modelling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Refers to application </a:t>
            </a:r>
            <a:r>
              <a:rPr lang="en-US" dirty="0"/>
              <a:t>a statistical </a:t>
            </a:r>
            <a:r>
              <a:rPr lang="en-US" dirty="0" smtClean="0"/>
              <a:t>models </a:t>
            </a:r>
            <a:r>
              <a:rPr lang="en-US" dirty="0"/>
              <a:t>or data mining algorithm to data for the purpose of predicting new or future </a:t>
            </a:r>
            <a:r>
              <a:rPr lang="en-US" dirty="0" smtClean="0"/>
              <a:t>observations.</a:t>
            </a:r>
          </a:p>
          <a:p>
            <a:r>
              <a:rPr lang="en-IN" dirty="0" smtClean="0"/>
              <a:t>Such models are used to </a:t>
            </a:r>
            <a:r>
              <a:rPr lang="en-IN" dirty="0"/>
              <a:t>predict the output value (Y ) for new observations given their input values (X</a:t>
            </a:r>
            <a:r>
              <a:rPr lang="en-IN" dirty="0" smtClean="0"/>
              <a:t>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19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805"/>
            <a:ext cx="8229600" cy="1143000"/>
          </a:xfrm>
        </p:spPr>
        <p:txBody>
          <a:bodyPr/>
          <a:lstStyle/>
          <a:p>
            <a:r>
              <a:rPr lang="en-IN" dirty="0" smtClean="0"/>
              <a:t>Explanatory Vs Predictive Modelling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105472"/>
          <a:ext cx="8229600" cy="4889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08896">
                <a:tc>
                  <a:txBody>
                    <a:bodyPr/>
                    <a:lstStyle/>
                    <a:p>
                      <a:r>
                        <a:rPr lang="en-IN" dirty="0" smtClean="0"/>
                        <a:t>OPERATION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EXPLANATORY TASK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PREDICTIVE</a:t>
                      </a:r>
                      <a:r>
                        <a:rPr lang="en-IN" baseline="0" dirty="0" smtClean="0"/>
                        <a:t> TASK</a:t>
                      </a:r>
                      <a:endParaRPr lang="en-IN" dirty="0"/>
                    </a:p>
                  </a:txBody>
                  <a:tcPr/>
                </a:tc>
              </a:tr>
              <a:tr h="408896">
                <a:tc>
                  <a:txBody>
                    <a:bodyPr/>
                    <a:lstStyle/>
                    <a:p>
                      <a:r>
                        <a:rPr lang="en-IN" dirty="0" smtClean="0"/>
                        <a:t>Types of Models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Linear, logistic,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probit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etc.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+ shrinkage models (ridge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regression, PCR, ensemble methods)</a:t>
                      </a:r>
                      <a:endParaRPr lang="en-IN" dirty="0"/>
                    </a:p>
                  </a:txBody>
                  <a:tcPr/>
                </a:tc>
              </a:tr>
              <a:tr h="408896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Choice of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independent variables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Based on theory/hypotheses;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causal relationship assumed (with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based on association; availability at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 of prediction; measurement accuracy important</a:t>
                      </a:r>
                      <a:endParaRPr lang="en-IN" dirty="0"/>
                    </a:p>
                  </a:txBody>
                  <a:tcPr/>
                </a:tc>
              </a:tr>
              <a:tr h="408896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preprocessing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Visualization, summaries, outlier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detection, imputation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Same, except missing data are treated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differently</a:t>
                      </a:r>
                      <a:endParaRPr lang="en-IN" dirty="0"/>
                    </a:p>
                  </a:txBody>
                  <a:tcPr/>
                </a:tc>
              </a:tr>
              <a:tr h="408896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partitioning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(training/holdout)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typical, except for robustness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Always required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88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8001"/>
          </a:xfrm>
        </p:spPr>
        <p:txBody>
          <a:bodyPr/>
          <a:lstStyle/>
          <a:p>
            <a:r>
              <a:rPr lang="en-IN" dirty="0"/>
              <a:t>Explanatory Vs Predictive Modelling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119115"/>
          <a:ext cx="8229600" cy="5006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1250">
                <a:tc>
                  <a:txBody>
                    <a:bodyPr/>
                    <a:lstStyle/>
                    <a:p>
                      <a:r>
                        <a:rPr lang="en-IN" dirty="0" smtClean="0"/>
                        <a:t>OPERATION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EXPLANATORY TASK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PREDICTIVE</a:t>
                      </a:r>
                      <a:r>
                        <a:rPr lang="en-IN" baseline="0" dirty="0" smtClean="0"/>
                        <a:t> TASK</a:t>
                      </a:r>
                      <a:endParaRPr lang="en-IN" dirty="0"/>
                    </a:p>
                  </a:txBody>
                  <a:tcPr/>
                </a:tc>
              </a:tr>
              <a:tr h="2039476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Any statistical software (as simple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 Excel)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Ordinary software requires tweaking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 partitioning, performance metrics); or data mining software (Clementine, SAS EM,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XLMiner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dirty="0"/>
                    </a:p>
                  </a:txBody>
                  <a:tcPr/>
                </a:tc>
              </a:tr>
              <a:tr h="371250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Estimation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Maximum likelihood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</a:t>
                      </a:r>
                      <a:endParaRPr lang="en-IN" dirty="0"/>
                    </a:p>
                  </a:txBody>
                  <a:tcPr/>
                </a:tc>
              </a:tr>
              <a:tr h="648925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selection goal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important factors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Dimension reduction, parsimony</a:t>
                      </a:r>
                      <a:endParaRPr lang="en-IN" dirty="0"/>
                    </a:p>
                  </a:txBody>
                  <a:tcPr/>
                </a:tc>
              </a:tr>
              <a:tr h="648925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selection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Stepwise, forward, etc.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</a:t>
                      </a:r>
                      <a:endParaRPr lang="en-IN" dirty="0"/>
                    </a:p>
                  </a:txBody>
                  <a:tcPr/>
                </a:tc>
              </a:tr>
              <a:tr h="927035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Multicollinearity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serious danger, risk of incorrect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inference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too important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833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6240"/>
          </a:xfrm>
        </p:spPr>
        <p:txBody>
          <a:bodyPr/>
          <a:lstStyle/>
          <a:p>
            <a:r>
              <a:rPr lang="en-IN" dirty="0"/>
              <a:t>Explanatory Vs Predictive Modelling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093186"/>
          <a:ext cx="82296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0109">
                <a:tc>
                  <a:txBody>
                    <a:bodyPr/>
                    <a:lstStyle/>
                    <a:p>
                      <a:r>
                        <a:rPr lang="en-IN" dirty="0" smtClean="0"/>
                        <a:t>OPERATION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EXPLANATORY TASK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PREDICTIVE</a:t>
                      </a:r>
                      <a:r>
                        <a:rPr lang="en-IN" baseline="0" dirty="0" smtClean="0"/>
                        <a:t> TASK</a:t>
                      </a:r>
                      <a:endParaRPr lang="en-IN" dirty="0"/>
                    </a:p>
                  </a:txBody>
                  <a:tcPr/>
                </a:tc>
              </a:tr>
              <a:tr h="900273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Evaluation criteria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Theoretical justification, goodness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fit, statistical significance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Parsimony, predictive accuracy, costs,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practical deployment</a:t>
                      </a:r>
                      <a:endParaRPr lang="en-IN" dirty="0"/>
                    </a:p>
                  </a:txBody>
                  <a:tcPr/>
                </a:tc>
              </a:tr>
              <a:tr h="1170356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 metrics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R2, MSE, residual analysis,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coefficient and overall p-values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Predictive accuracy (RMSE, MAPE,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lift) computed from holdout dataset</a:t>
                      </a:r>
                      <a:endParaRPr lang="en-IN" dirty="0"/>
                    </a:p>
                  </a:txBody>
                  <a:tcPr/>
                </a:tc>
              </a:tr>
              <a:tr h="900273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Dangers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misspecification, type I and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II errors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Over-fitting</a:t>
                      </a:r>
                      <a:endParaRPr lang="en-IN" dirty="0"/>
                    </a:p>
                  </a:txBody>
                  <a:tcPr/>
                </a:tc>
              </a:tr>
              <a:tr h="1170356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use (research)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hypotheses/theory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Discover new relationships, evaluate</a:t>
                      </a:r>
                      <a:endParaRPr lang="en-IN" sz="18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magnitude of effects, assess predictability</a:t>
                      </a:r>
                      <a:endParaRPr lang="en-IN" dirty="0"/>
                    </a:p>
                  </a:txBody>
                  <a:tcPr/>
                </a:tc>
              </a:tr>
              <a:tr h="630192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use (practice)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important factors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Score new data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268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Applications of </a:t>
            </a:r>
            <a:r>
              <a:rPr lang="en-IN" dirty="0"/>
              <a:t>Explanatory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Used in many scientific fields such </a:t>
            </a:r>
            <a:r>
              <a:rPr lang="en-US" dirty="0" smtClean="0"/>
              <a:t>as</a:t>
            </a:r>
          </a:p>
          <a:p>
            <a:pPr lvl="1"/>
            <a:r>
              <a:rPr lang="en-US" dirty="0" smtClean="0"/>
              <a:t>Economics(</a:t>
            </a:r>
            <a:r>
              <a:rPr lang="en-US" dirty="0"/>
              <a:t>analyzing models of</a:t>
            </a:r>
            <a:r>
              <a:rPr lang="en-IN" dirty="0"/>
              <a:t> financial variability</a:t>
            </a:r>
            <a:r>
              <a:rPr lang="en-US" dirty="0" smtClean="0"/>
              <a:t>),</a:t>
            </a:r>
          </a:p>
          <a:p>
            <a:pPr lvl="1"/>
            <a:r>
              <a:rPr lang="en-US" dirty="0" smtClean="0"/>
              <a:t>Psychology(m</a:t>
            </a:r>
            <a:r>
              <a:rPr lang="en-US" dirty="0"/>
              <a:t>odel for </a:t>
            </a:r>
            <a:r>
              <a:rPr lang="en-IN" dirty="0"/>
              <a:t>psychiatric disorders</a:t>
            </a:r>
            <a:r>
              <a:rPr lang="en-US" dirty="0" smtClean="0"/>
              <a:t>),</a:t>
            </a:r>
          </a:p>
          <a:p>
            <a:pPr lvl="1"/>
            <a:r>
              <a:rPr lang="en-US" dirty="0" smtClean="0"/>
              <a:t>Education(</a:t>
            </a:r>
            <a:r>
              <a:rPr lang="en-US" dirty="0"/>
              <a:t>chemistry, computers, etc.</a:t>
            </a:r>
            <a:r>
              <a:rPr lang="en-US" dirty="0" smtClean="0"/>
              <a:t>), </a:t>
            </a:r>
            <a:r>
              <a:rPr lang="en-US" dirty="0"/>
              <a:t>and </a:t>
            </a:r>
            <a:endParaRPr lang="en-US" dirty="0" smtClean="0"/>
          </a:p>
          <a:p>
            <a:pPr lvl="1"/>
            <a:r>
              <a:rPr lang="en-US" dirty="0" smtClean="0"/>
              <a:t>environmental science(</a:t>
            </a:r>
            <a:r>
              <a:rPr lang="en-US" dirty="0"/>
              <a:t>planetary biological models</a:t>
            </a:r>
            <a:r>
              <a:rPr lang="en-US" dirty="0" smtClean="0"/>
              <a:t>)</a:t>
            </a:r>
            <a:endParaRPr lang="en-US" i="1" dirty="0"/>
          </a:p>
          <a:p>
            <a:r>
              <a:rPr lang="en-US" dirty="0"/>
              <a:t>IS literature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finding determinants of auction prices, </a:t>
            </a:r>
            <a:endParaRPr lang="en-US" dirty="0" smtClean="0"/>
          </a:p>
          <a:p>
            <a:pPr lvl="1"/>
            <a:r>
              <a:rPr lang="en-US" dirty="0" smtClean="0"/>
              <a:t>explaining </a:t>
            </a:r>
            <a:r>
              <a:rPr lang="en-US" dirty="0"/>
              <a:t>the diffusion and non-diffusion of e-commerce among SMEs, </a:t>
            </a:r>
            <a:endParaRPr lang="en-US" dirty="0" smtClean="0"/>
          </a:p>
          <a:p>
            <a:pPr lvl="1"/>
            <a:r>
              <a:rPr lang="en-US" dirty="0" smtClean="0"/>
              <a:t>explaining </a:t>
            </a:r>
            <a:r>
              <a:rPr lang="en-US" dirty="0"/>
              <a:t>attitudes towards online security and privacy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84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</a:t>
            </a:r>
            <a:r>
              <a:rPr lang="en-IN" dirty="0" smtClean="0"/>
              <a:t>Predictive </a:t>
            </a:r>
            <a:r>
              <a:rPr lang="en-IN" dirty="0"/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fields such as natural language processing and bioinformatics</a:t>
            </a:r>
          </a:p>
          <a:p>
            <a:r>
              <a:rPr lang="en-US" dirty="0" smtClean="0"/>
              <a:t>To predict </a:t>
            </a:r>
            <a:r>
              <a:rPr lang="en-US" dirty="0"/>
              <a:t>the price of ongoing eBay auctions</a:t>
            </a:r>
          </a:p>
          <a:p>
            <a:r>
              <a:rPr lang="en-US" dirty="0" smtClean="0"/>
              <a:t>To predict </a:t>
            </a:r>
            <a:r>
              <a:rPr lang="en-US" dirty="0"/>
              <a:t>future box-office sales based on online movie ratings</a:t>
            </a:r>
          </a:p>
          <a:p>
            <a:r>
              <a:rPr lang="en-IN" dirty="0" smtClean="0"/>
              <a:t>To </a:t>
            </a:r>
            <a:r>
              <a:rPr lang="en-IN" dirty="0"/>
              <a:t>detect crimes and identify suspects, after the crime has taken place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72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8244"/>
            <a:ext cx="7772400" cy="1044325"/>
          </a:xfrm>
        </p:spPr>
        <p:txBody>
          <a:bodyPr>
            <a:noAutofit/>
          </a:bodyPr>
          <a:lstStyle/>
          <a:p>
            <a:pPr algn="ctr"/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/>
            </a:r>
            <a:br>
              <a:rPr lang="en-US" sz="80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/>
            </a:r>
            <a:br>
              <a:rPr lang="en-US" sz="80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8000" dirty="0" smtClean="0">
                <a:solidFill>
                  <a:schemeClr val="tx2">
                    <a:lumMod val="75000"/>
                  </a:schemeClr>
                </a:solidFill>
              </a:rPr>
              <a:t>Predictive </a:t>
            </a:r>
            <a:r>
              <a:rPr lang="en-US" sz="8000" dirty="0">
                <a:solidFill>
                  <a:schemeClr val="tx2">
                    <a:lumMod val="75000"/>
                  </a:schemeClr>
                </a:solidFill>
              </a:rPr>
              <a:t>Models</a:t>
            </a:r>
            <a:endParaRPr lang="en-US" sz="8000" dirty="0">
              <a:solidFill>
                <a:srgbClr val="1156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10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Bootstrapping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Practice of estimation of any statistic using random sampling methods.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algn="just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The bootstrap sample is taken from the original using sampling with replacement.</a:t>
            </a:r>
          </a:p>
          <a:p>
            <a:pPr algn="just"/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algn="just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This method tests a model’s performance on certain subsets of data over and over again to provide an estimate of accuracy.</a:t>
            </a:r>
          </a:p>
        </p:txBody>
      </p:sp>
    </p:spTree>
    <p:extLst>
      <p:ext uri="{BB962C8B-B14F-4D97-AF65-F5344CB8AC3E}">
        <p14:creationId xmlns:p14="http://schemas.microsoft.com/office/powerpoint/2010/main" val="427991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chemeClr val="tx2">
                    <a:lumMod val="75000"/>
                  </a:schemeClr>
                </a:solidFill>
              </a:rPr>
              <a:t>Bootstrapping in R</a:t>
            </a:r>
            <a:endParaRPr lang="en-US" sz="4400" dirty="0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80" y="4041611"/>
            <a:ext cx="4172765" cy="18297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989" y="4041611"/>
            <a:ext cx="4087999" cy="18297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05" y="1344334"/>
            <a:ext cx="8410395" cy="242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4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2">
                    <a:lumMod val="75000"/>
                  </a:schemeClr>
                </a:solidFill>
              </a:rPr>
              <a:t>Random Forests</a:t>
            </a:r>
            <a:endParaRPr lang="en-US" sz="4800" dirty="0"/>
          </a:p>
        </p:txBody>
      </p:sp>
      <p:sp>
        <p:nvSpPr>
          <p:cNvPr id="4" name="Rectangle 3"/>
          <p:cNvSpPr/>
          <p:nvPr/>
        </p:nvSpPr>
        <p:spPr>
          <a:xfrm>
            <a:off x="334370" y="1567177"/>
            <a:ext cx="504284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Random forests are an ensemble learning method for classification, regression and other </a:t>
            </a:r>
            <a:r>
              <a:rPr lang="en-US" dirty="0" smtClean="0"/>
              <a:t>tasks</a:t>
            </a:r>
            <a:r>
              <a:rPr lang="en-US" dirty="0"/>
              <a:t>.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They </a:t>
            </a:r>
            <a:r>
              <a:rPr lang="en-US" dirty="0"/>
              <a:t>operate by constructing a multitude of decision trees </a:t>
            </a:r>
            <a:r>
              <a:rPr lang="en-US" dirty="0" smtClean="0"/>
              <a:t>and </a:t>
            </a:r>
            <a:r>
              <a:rPr lang="en-US" dirty="0"/>
              <a:t>outputting the class that is the mode of the classes (classification) or mean prediction (regression) of the individual trees.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34370" y="3768873"/>
            <a:ext cx="50428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It is a way of averaging multiple deep decision trees, trained on different parts of the same training set, with the goal of reducing the </a:t>
            </a:r>
            <a:r>
              <a:rPr lang="en-US" dirty="0" smtClean="0"/>
              <a:t>variance.</a:t>
            </a:r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5" y="4788645"/>
            <a:ext cx="6982051" cy="15204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108" y="1567177"/>
            <a:ext cx="3371824" cy="312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7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360" y="1088925"/>
            <a:ext cx="4739640" cy="43986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991"/>
            <a:ext cx="8229600" cy="1143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Conditional Inference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5044440" cy="4708525"/>
          </a:xfrm>
        </p:spPr>
        <p:txBody>
          <a:bodyPr>
            <a:normAutofit/>
          </a:bodyPr>
          <a:lstStyle/>
          <a:p>
            <a:r>
              <a:rPr lang="en-US" sz="2800" dirty="0"/>
              <a:t>Conditional inference trees estimate a regression relationship by </a:t>
            </a:r>
            <a:r>
              <a:rPr lang="en-US" sz="2800" b="1" dirty="0"/>
              <a:t>binary recursive partitioning</a:t>
            </a:r>
            <a:r>
              <a:rPr lang="en-US" sz="2800" dirty="0"/>
              <a:t> in a conditional inference </a:t>
            </a:r>
            <a:r>
              <a:rPr lang="en-US" sz="2800" dirty="0" smtClean="0"/>
              <a:t>framework.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49" y="5487570"/>
            <a:ext cx="6039641" cy="121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9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smtClean="0">
                <a:solidFill>
                  <a:schemeClr val="tx2">
                    <a:lumMod val="75000"/>
                  </a:schemeClr>
                </a:solidFill>
              </a:rPr>
              <a:t>Support Vector Machines</a:t>
            </a:r>
            <a:endParaRPr lang="en-US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0120" y="2298046"/>
            <a:ext cx="4373880" cy="19707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57200" y="1539240"/>
            <a:ext cx="3977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Support vector machines (SVMs) are supervised learning models with associated learning algorithms that analyze data and recognize patterns, used for classification and regression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58640"/>
            <a:ext cx="457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 SVM model is a representation of the examples as points in space, mapped so that the examples of the separate categories are divided by a clear gap that is as wide as possible. </a:t>
            </a:r>
          </a:p>
        </p:txBody>
      </p:sp>
    </p:spTree>
    <p:extLst>
      <p:ext uri="{BB962C8B-B14F-4D97-AF65-F5344CB8AC3E}">
        <p14:creationId xmlns:p14="http://schemas.microsoft.com/office/powerpoint/2010/main" val="349496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 smtClean="0">
                <a:solidFill>
                  <a:schemeClr val="accent4">
                    <a:lumMod val="50000"/>
                  </a:schemeClr>
                </a:solidFill>
              </a:rPr>
              <a:t>SVM in R</a:t>
            </a:r>
            <a:endParaRPr lang="en-US" sz="48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957" y="1848644"/>
            <a:ext cx="5943458" cy="21269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957" y="4782261"/>
            <a:ext cx="7147014" cy="78602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9651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4" y="3280479"/>
            <a:ext cx="4191000" cy="3543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Nonparametric </a:t>
            </a:r>
            <a:r>
              <a:rPr lang="en-US" sz="4800" dirty="0" smtClean="0"/>
              <a:t>Regression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Nonparametric regression is a form of regression analysis in which the predictor does not take a predetermined form but is constructed according to information derived from the data.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439898"/>
            <a:ext cx="2519542" cy="423283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648200" y="4159536"/>
            <a:ext cx="3654828" cy="61555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ndale mono"/>
              </a:rPr>
              <a:t>R&gt;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222222"/>
                </a:solidFill>
                <a:effectLst/>
                <a:latin typeface="andale mono"/>
              </a:rPr>
              <a:t>npreg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ndale mono"/>
              </a:rPr>
              <a:t>((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222222"/>
                </a:solidFill>
                <a:effectLst/>
                <a:latin typeface="andale mono"/>
              </a:rPr>
              <a:t>bws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ndale mono"/>
              </a:rPr>
              <a:t>, data = NULL, newdata = NULL, ...))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22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98116"/>
            <a:ext cx="8229600" cy="1081404"/>
          </a:xfrm>
        </p:spPr>
        <p:txBody>
          <a:bodyPr>
            <a:noAutofit/>
          </a:bodyPr>
          <a:lstStyle/>
          <a:p>
            <a:r>
              <a:rPr lang="en-US" sz="8000" dirty="0" smtClean="0">
                <a:solidFill>
                  <a:schemeClr val="tx2">
                    <a:lumMod val="75000"/>
                  </a:schemeClr>
                </a:solidFill>
              </a:rPr>
              <a:t>Explanatory Models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51852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Linear Regression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9861" y="1791714"/>
            <a:ext cx="3811795" cy="25411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22229"/>
            <a:ext cx="46880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Linear </a:t>
            </a:r>
            <a:r>
              <a:rPr lang="en-US" sz="2000" dirty="0"/>
              <a:t>regression is an approach for modeling the relationship between a scalar dependent variable y and one or more explanatory variables (or independent variables) denoted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09581"/>
            <a:ext cx="40397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Data </a:t>
            </a:r>
            <a:r>
              <a:rPr lang="en-US" sz="2000" dirty="0"/>
              <a:t>are modeled using linear predictor functions, and unknown model parameters are estimated from the data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881" y="5032274"/>
            <a:ext cx="4345959" cy="103653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9107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Correlation Analysis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8800" y="1612900"/>
            <a:ext cx="3797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correlation coefficient is a measure of linear association between two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2794992"/>
            <a:ext cx="3924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Values of the correlation coefficient are always between -1 and +1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4080489"/>
            <a:ext cx="7677150" cy="18669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100" y="1612900"/>
            <a:ext cx="4762500" cy="227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72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smtClean="0"/>
              <a:t>Naive Bayes Classifier</a:t>
            </a:r>
            <a:endParaRPr lang="en-US" sz="4400" dirty="0"/>
          </a:p>
        </p:txBody>
      </p:sp>
      <p:sp>
        <p:nvSpPr>
          <p:cNvPr id="4" name="TextBox 3"/>
          <p:cNvSpPr txBox="1"/>
          <p:nvPr/>
        </p:nvSpPr>
        <p:spPr>
          <a:xfrm>
            <a:off x="354842" y="1417638"/>
            <a:ext cx="43945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Naive Bayes classifiers are a family of probabilistic classifiers based on applying Bayes' theorem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418" y="3744844"/>
            <a:ext cx="4926582" cy="19462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54842" y="2906973"/>
            <a:ext cx="38691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standard naive Bayes classifier </a:t>
            </a:r>
            <a:r>
              <a:rPr lang="en-US" sz="2000" dirty="0" smtClean="0"/>
              <a:t>assumes </a:t>
            </a:r>
            <a:r>
              <a:rPr lang="en-US" sz="2000" dirty="0"/>
              <a:t>independence of the predictor variables, and Gaussian distribution </a:t>
            </a:r>
            <a:r>
              <a:rPr lang="en-US" sz="2000" dirty="0" smtClean="0"/>
              <a:t>of </a:t>
            </a:r>
            <a:r>
              <a:rPr lang="en-US" sz="2000" dirty="0"/>
              <a:t>metric predictors.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For </a:t>
            </a:r>
            <a:r>
              <a:rPr lang="en-US" sz="2000" dirty="0"/>
              <a:t>attributes with missing values, the corresponding table entries are omitted for prediction.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735" y="1978925"/>
            <a:ext cx="3064170" cy="864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982" y="2843178"/>
            <a:ext cx="4571895" cy="7657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016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smtClean="0"/>
              <a:t>Decision Tree</a:t>
            </a:r>
            <a:endParaRPr lang="en-US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983" y="1282890"/>
            <a:ext cx="4249017" cy="2542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35" y="1417638"/>
            <a:ext cx="47994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Decision tree is a decision support tool that uses a tree-like graph or model of decisions and their possible consequences, including chance event outcomes, resource costs, and </a:t>
            </a:r>
            <a:r>
              <a:rPr lang="en-US" sz="2400" dirty="0" smtClean="0"/>
              <a:t>utility.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68239" y="4080681"/>
            <a:ext cx="45037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These are commonly </a:t>
            </a:r>
            <a:r>
              <a:rPr lang="en-US" sz="2400" dirty="0"/>
              <a:t>used in operations research, specifically in decision analysis, to help identify a strategy most likely to reach a </a:t>
            </a:r>
            <a:r>
              <a:rPr lang="en-US" sz="2400" dirty="0" smtClean="0"/>
              <a:t>goal.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3890092"/>
            <a:ext cx="4437783" cy="202493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0104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 smtClean="0"/>
              <a:t>T-Test</a:t>
            </a:r>
            <a:endParaRPr lang="en-US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542197"/>
            <a:ext cx="440140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t-test is any statistical hypothesis test in which the test statistic follows a Student's t-distribution if the null hypothesis is </a:t>
            </a:r>
            <a:r>
              <a:rPr lang="en-US" sz="2000" dirty="0" smtClean="0"/>
              <a:t>supported.</a:t>
            </a:r>
          </a:p>
          <a:p>
            <a:endParaRPr lang="en-US" sz="2000" dirty="0"/>
          </a:p>
          <a:p>
            <a:r>
              <a:rPr lang="en-US" sz="2000" dirty="0"/>
              <a:t>Appropriate when comparing the means of two groups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Helps in assessing </a:t>
            </a:r>
            <a:r>
              <a:rPr lang="en-US" sz="2000" dirty="0"/>
              <a:t>whether the means of two groups are statistically different from each other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  <p:pic>
        <p:nvPicPr>
          <p:cNvPr id="6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4612" y="1555845"/>
            <a:ext cx="2333625" cy="21526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115" y="4124999"/>
            <a:ext cx="3228975" cy="28289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8821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T-Test in 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03" y="1695732"/>
            <a:ext cx="8925193" cy="325840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6759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smtClean="0"/>
              <a:t>ANOVA</a:t>
            </a:r>
            <a:endParaRPr lang="en-US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259307" y="1417638"/>
            <a:ext cx="54591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ANOVA provides a statistical test of whether or not the means of several groups are equal, and therefore generalizes the t-test to more than two groups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524" y="2560638"/>
            <a:ext cx="4600575" cy="3200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59307" y="3111690"/>
            <a:ext cx="407321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</a:t>
            </a:r>
            <a:r>
              <a:rPr lang="en-US" sz="2000" dirty="0" smtClean="0"/>
              <a:t>oing </a:t>
            </a:r>
            <a:r>
              <a:rPr lang="en-US" sz="2000" dirty="0"/>
              <a:t>multiple two-sample t-tests would result in an </a:t>
            </a:r>
            <a:r>
              <a:rPr lang="en-US" sz="2000" dirty="0" smtClean="0"/>
              <a:t>increased chance </a:t>
            </a:r>
            <a:r>
              <a:rPr lang="en-US" sz="2000" dirty="0"/>
              <a:t>of committing a statistical type I </a:t>
            </a:r>
            <a:r>
              <a:rPr lang="en-US" sz="2000" dirty="0" smtClean="0"/>
              <a:t>error</a:t>
            </a:r>
          </a:p>
          <a:p>
            <a:endParaRPr lang="en-US" sz="2000" dirty="0"/>
          </a:p>
          <a:p>
            <a:r>
              <a:rPr lang="en-US" sz="2000" dirty="0" smtClean="0"/>
              <a:t>ANOVAs </a:t>
            </a:r>
            <a:r>
              <a:rPr lang="en-US" sz="2000" dirty="0"/>
              <a:t>are useful for comparing (testing) three or more means (groups or variables) for statistical </a:t>
            </a:r>
            <a:r>
              <a:rPr lang="en-US" sz="2000" dirty="0" smtClean="0"/>
              <a:t>significance.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5776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3411939"/>
            <a:ext cx="7168872" cy="32689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ANOVA in R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417638"/>
            <a:ext cx="8197611" cy="199430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9845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8244"/>
            <a:ext cx="7772400" cy="10443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115639"/>
                </a:solidFill>
              </a:rPr>
              <a:t>Types of Model Validation</a:t>
            </a:r>
            <a:endParaRPr lang="en-US" dirty="0">
              <a:solidFill>
                <a:srgbClr val="1156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30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P-Value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607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When performing hypothesis testing, the p-value is used to determine the strength of your results/evidence derived from data.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0.05 &lt; p-value =&lt; 0.05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51544" y="4504298"/>
            <a:ext cx="79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Weak</a:t>
            </a:r>
            <a:endParaRPr 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622925" y="4504298"/>
            <a:ext cx="883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Strong</a:t>
            </a:r>
            <a:endParaRPr lang="en-US" sz="2000" b="1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149512" y="4183987"/>
            <a:ext cx="0" cy="3203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050150" y="4183987"/>
            <a:ext cx="0" cy="3203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539015">
            <a:off x="6276381" y="605931"/>
            <a:ext cx="222368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</a:rPr>
              <a:t>Explanatory</a:t>
            </a:r>
            <a:endParaRPr lang="en-US"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37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P-Value R Code</a:t>
            </a:r>
            <a:endParaRPr lang="en-US" dirty="0"/>
          </a:p>
        </p:txBody>
      </p:sp>
      <p:pic>
        <p:nvPicPr>
          <p:cNvPr id="4" name="Content Placeholder 3" descr="T-test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8" b="2908"/>
          <a:stretch>
            <a:fillRect/>
          </a:stretch>
        </p:blipFill>
        <p:spPr>
          <a:xfrm>
            <a:off x="782827" y="2541191"/>
            <a:ext cx="6804272" cy="3742087"/>
          </a:xfrm>
        </p:spPr>
      </p:pic>
      <p:sp>
        <p:nvSpPr>
          <p:cNvPr id="5" name="TextBox 4"/>
          <p:cNvSpPr txBox="1"/>
          <p:nvPr/>
        </p:nvSpPr>
        <p:spPr>
          <a:xfrm>
            <a:off x="457200" y="1463973"/>
            <a:ext cx="655900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Easiest way to generate the p-value of </a:t>
            </a:r>
          </a:p>
          <a:p>
            <a:r>
              <a:rPr lang="en-US" sz="3200" dirty="0" smtClean="0"/>
              <a:t>your data set: Run a t-test!!!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10885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</a:t>
            </a:r>
            <a:r>
              <a:rPr lang="en-US" baseline="30000" dirty="0" smtClean="0"/>
              <a:t>2 </a:t>
            </a:r>
            <a:r>
              <a:rPr lang="en-US" dirty="0" smtClean="0"/>
              <a:t>&amp; Adjusted R</a:t>
            </a:r>
            <a:r>
              <a:rPr lang="en-US" baseline="30000" dirty="0" smtClean="0"/>
              <a:t>2</a:t>
            </a:r>
            <a:endParaRPr lang="en-US" baseline="30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r>
              <a:rPr lang="en-US" dirty="0" smtClean="0"/>
              <a:t> is the coefficient of determination. It is a measure of how well the regression line approximates the real data point – how well the line fits.</a:t>
            </a:r>
          </a:p>
          <a:p>
            <a:r>
              <a:rPr lang="en-US" dirty="0" smtClean="0"/>
              <a:t>Adjusted R</a:t>
            </a:r>
            <a:r>
              <a:rPr lang="en-US" baseline="30000" dirty="0" smtClean="0"/>
              <a:t>2</a:t>
            </a:r>
            <a:r>
              <a:rPr lang="en-US" dirty="0" smtClean="0"/>
              <a:t> is used to compare multiple linear regression models.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539015">
            <a:off x="4487047" y="492746"/>
            <a:ext cx="440216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</a:rPr>
              <a:t>Explanatory &amp; Predictive</a:t>
            </a:r>
            <a:endParaRPr lang="en-US"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745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</a:t>
            </a:r>
            <a:r>
              <a:rPr lang="en-US" baseline="30000" dirty="0" smtClean="0"/>
              <a:t>2</a:t>
            </a:r>
            <a:r>
              <a:rPr lang="en-US" dirty="0" smtClean="0"/>
              <a:t> &amp; Adjusted R</a:t>
            </a:r>
            <a:r>
              <a:rPr lang="en-US" baseline="30000" dirty="0" smtClean="0"/>
              <a:t>2</a:t>
            </a:r>
            <a:r>
              <a:rPr lang="en-US" dirty="0" smtClean="0"/>
              <a:t> R-Code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-1" t="-1266" r="-3640" b="-1266"/>
          <a:stretch/>
        </p:blipFill>
        <p:spPr>
          <a:xfrm>
            <a:off x="423333" y="1417638"/>
            <a:ext cx="7687733" cy="4708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418667"/>
            <a:ext cx="3522133" cy="287866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114803" y="5427134"/>
            <a:ext cx="3522133" cy="287866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808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AIC &amp; BIC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AIC</a:t>
            </a:r>
            <a:r>
              <a:rPr lang="en-US" b="1" dirty="0" smtClean="0"/>
              <a:t> - AKAIKE </a:t>
            </a:r>
            <a:r>
              <a:rPr lang="en-US" b="1" dirty="0"/>
              <a:t>INFORMATION CRITERION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BIC - </a:t>
            </a:r>
            <a:r>
              <a:rPr lang="en-US" b="1" dirty="0"/>
              <a:t>Bayesian Information Criterion </a:t>
            </a:r>
            <a:endParaRPr lang="en-US" dirty="0" smtClean="0"/>
          </a:p>
          <a:p>
            <a:r>
              <a:rPr lang="en-US" dirty="0" smtClean="0"/>
              <a:t>AIC and BIC are model selection tools. The AIC score gives </a:t>
            </a:r>
            <a:r>
              <a:rPr lang="en-US" dirty="0"/>
              <a:t>an estimate of the model performance on </a:t>
            </a:r>
            <a:r>
              <a:rPr lang="en-US" dirty="0" smtClean="0"/>
              <a:t>the testing set.</a:t>
            </a:r>
          </a:p>
          <a:p>
            <a:r>
              <a:rPr lang="en-US" dirty="0" smtClean="0"/>
              <a:t>The lower AIC and BIC scores the better the model!</a:t>
            </a:r>
          </a:p>
          <a:p>
            <a:r>
              <a:rPr lang="en-US" dirty="0" smtClean="0"/>
              <a:t>Theses tools helps to filter out unnecessarily complicated models with excessive parameters.</a:t>
            </a:r>
          </a:p>
          <a:p>
            <a:r>
              <a:rPr lang="en-US" dirty="0" smtClean="0"/>
              <a:t>AIC is preferred for complex models &amp; BIC is preferred for simpler models.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539015">
            <a:off x="6276381" y="605931"/>
            <a:ext cx="222368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</a:rPr>
              <a:t>Explanatory</a:t>
            </a:r>
            <a:endParaRPr lang="en-US"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44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AIC &amp; BIC R-Code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Usage</a:t>
            </a:r>
          </a:p>
          <a:p>
            <a:pPr marL="0" indent="0">
              <a:buNone/>
            </a:pPr>
            <a:r>
              <a:rPr lang="en-US" dirty="0"/>
              <a:t>AIC(object, ..., k = 2)  BIC(object, ...)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Arguments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Object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 </a:t>
            </a:r>
            <a:r>
              <a:rPr lang="en-US" dirty="0"/>
              <a:t>fitted model object for which there exists </a:t>
            </a:r>
            <a:r>
              <a:rPr lang="en-US" dirty="0" smtClean="0"/>
              <a:t>	a</a:t>
            </a:r>
            <a:r>
              <a:rPr lang="en-US" dirty="0"/>
              <a:t> </a:t>
            </a:r>
            <a:r>
              <a:rPr lang="en-US" dirty="0" err="1"/>
              <a:t>logLik</a:t>
            </a:r>
            <a:r>
              <a:rPr lang="en-US" dirty="0"/>
              <a:t> method to extract the corresponding log</a:t>
            </a:r>
            <a:r>
              <a:rPr lang="en-US" dirty="0" smtClean="0"/>
              <a:t>-	likelihood</a:t>
            </a:r>
            <a:r>
              <a:rPr lang="en-US" dirty="0"/>
              <a:t>, or an object inheriting from class </a:t>
            </a:r>
            <a:r>
              <a:rPr lang="en-US" dirty="0" err="1"/>
              <a:t>logLik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...</a:t>
            </a:r>
          </a:p>
          <a:p>
            <a:pPr marL="0" indent="0">
              <a:buNone/>
            </a:pPr>
            <a:r>
              <a:rPr lang="en-US" dirty="0" smtClean="0"/>
              <a:t>	optionally </a:t>
            </a:r>
            <a:r>
              <a:rPr lang="en-US" dirty="0"/>
              <a:t>more fitted model objects.</a:t>
            </a:r>
          </a:p>
          <a:p>
            <a:pPr marL="0" indent="0">
              <a:buNone/>
            </a:pPr>
            <a:r>
              <a:rPr lang="en-US" dirty="0"/>
              <a:t>k</a:t>
            </a:r>
          </a:p>
          <a:p>
            <a:pPr marL="0" indent="0">
              <a:buNone/>
            </a:pPr>
            <a:r>
              <a:rPr lang="en-US" dirty="0" smtClean="0"/>
              <a:t>	numeric</a:t>
            </a:r>
            <a:r>
              <a:rPr lang="en-US" dirty="0"/>
              <a:t>, the </a:t>
            </a:r>
            <a:r>
              <a:rPr lang="en-US" i="1" dirty="0"/>
              <a:t>penalty</a:t>
            </a:r>
            <a:r>
              <a:rPr lang="en-US" dirty="0"/>
              <a:t> per parameter to be used; the </a:t>
            </a:r>
            <a:r>
              <a:rPr lang="en-US" dirty="0" smtClean="0"/>
              <a:t>	default</a:t>
            </a:r>
            <a:r>
              <a:rPr lang="en-US" dirty="0"/>
              <a:t> k = 2 is the classical AIC.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8736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K-Fold Cross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 </a:t>
            </a:r>
            <a:r>
              <a:rPr lang="en-US" b="1" i="1" dirty="0"/>
              <a:t>k</a:t>
            </a:r>
            <a:r>
              <a:rPr lang="en-US" b="1" dirty="0"/>
              <a:t>-fold cross-validation, the original sample is randomly partitioned into </a:t>
            </a:r>
            <a:r>
              <a:rPr lang="en-US" b="1" i="1" dirty="0"/>
              <a:t>k</a:t>
            </a:r>
            <a:r>
              <a:rPr lang="en-US" b="1" dirty="0"/>
              <a:t> equal sized subsamples. </a:t>
            </a:r>
            <a:endParaRPr lang="en-US" b="1" dirty="0" smtClean="0"/>
          </a:p>
          <a:p>
            <a:r>
              <a:rPr lang="en-US" b="1" dirty="0" smtClean="0"/>
              <a:t>Using the k subsamples, </a:t>
            </a:r>
            <a:r>
              <a:rPr lang="en-US" b="1" dirty="0"/>
              <a:t>a single </a:t>
            </a:r>
            <a:r>
              <a:rPr lang="en-US" b="1" dirty="0" smtClean="0"/>
              <a:t>one is </a:t>
            </a:r>
            <a:r>
              <a:rPr lang="en-US" b="1" dirty="0"/>
              <a:t>retained </a:t>
            </a:r>
            <a:r>
              <a:rPr lang="en-US" b="1" dirty="0" smtClean="0"/>
              <a:t>and </a:t>
            </a:r>
            <a:r>
              <a:rPr lang="en-US" b="1" dirty="0"/>
              <a:t>the remaining </a:t>
            </a:r>
            <a:r>
              <a:rPr lang="en-US" b="1" i="1" dirty="0"/>
              <a:t>k</a:t>
            </a:r>
            <a:r>
              <a:rPr lang="en-US" b="1" dirty="0"/>
              <a:t> − 1 subsamples are used as training data. </a:t>
            </a:r>
            <a:endParaRPr lang="en-US" b="1" dirty="0" smtClean="0"/>
          </a:p>
          <a:p>
            <a:r>
              <a:rPr lang="en-US" b="1" dirty="0" smtClean="0"/>
              <a:t>The </a:t>
            </a:r>
            <a:r>
              <a:rPr lang="en-US" b="1" dirty="0"/>
              <a:t>cross-validation process is then repeated </a:t>
            </a:r>
            <a:r>
              <a:rPr lang="en-US" b="1" i="1" dirty="0" err="1"/>
              <a:t>k</a:t>
            </a:r>
            <a:r>
              <a:rPr lang="en-US" b="1" dirty="0" err="1"/>
              <a:t>times</a:t>
            </a:r>
            <a:r>
              <a:rPr lang="en-US" b="1" dirty="0"/>
              <a:t> (the </a:t>
            </a:r>
            <a:r>
              <a:rPr lang="en-US" b="1" i="1" dirty="0"/>
              <a:t>folds</a:t>
            </a:r>
            <a:r>
              <a:rPr lang="en-US" b="1" dirty="0" smtClean="0"/>
              <a:t>). (Each k subsample is used only once!)</a:t>
            </a:r>
          </a:p>
          <a:p>
            <a:r>
              <a:rPr lang="en-US" b="1" dirty="0" smtClean="0"/>
              <a:t>The</a:t>
            </a:r>
            <a:r>
              <a:rPr lang="en-US" b="1" dirty="0"/>
              <a:t> </a:t>
            </a:r>
            <a:r>
              <a:rPr lang="en-US" b="1" i="1" dirty="0"/>
              <a:t>k</a:t>
            </a:r>
            <a:r>
              <a:rPr lang="en-US" b="1" dirty="0"/>
              <a:t> results from the folds </a:t>
            </a:r>
            <a:r>
              <a:rPr lang="en-US" b="1" dirty="0" smtClean="0"/>
              <a:t>are then </a:t>
            </a:r>
            <a:r>
              <a:rPr lang="en-US" b="1" dirty="0"/>
              <a:t>averaged (or </a:t>
            </a:r>
            <a:r>
              <a:rPr lang="en-US" b="1" dirty="0" smtClean="0"/>
              <a:t>combined</a:t>
            </a:r>
            <a:r>
              <a:rPr lang="en-US" b="1" dirty="0"/>
              <a:t>) to produce a single estimation.</a:t>
            </a:r>
            <a:r>
              <a:rPr lang="en-US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 rot="539015">
            <a:off x="6763471" y="418557"/>
            <a:ext cx="18892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</a:rPr>
              <a:t>Predictive</a:t>
            </a:r>
            <a:endParaRPr lang="en-US"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0320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K-fold Cross Validation R-Code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Library needed: DAAG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K-Fold Cross Validati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67" y="2472266"/>
            <a:ext cx="7383834" cy="123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36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Cross Validation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Mean Squared Error (MSE) – measure of how  close a fitted line is to its data points.</a:t>
            </a:r>
          </a:p>
          <a:p>
            <a:endParaRPr lang="en-US" dirty="0" smtClean="0"/>
          </a:p>
          <a:p>
            <a:r>
              <a:rPr lang="en-US" dirty="0" smtClean="0"/>
              <a:t>Root Mean Squared Error (RMSE) – square root of the MSE; amplifies and punishes large error.</a:t>
            </a:r>
          </a:p>
          <a:p>
            <a:pPr lvl="1"/>
            <a:r>
              <a:rPr lang="en-US" dirty="0" smtClean="0"/>
              <a:t>Gives the std. deviation of model </a:t>
            </a:r>
          </a:p>
          <a:p>
            <a:pPr marL="914400" lvl="2" indent="0">
              <a:buNone/>
            </a:pPr>
            <a:r>
              <a:rPr lang="en-US" sz="2800" dirty="0" smtClean="0"/>
              <a:t>prediction error.</a:t>
            </a:r>
          </a:p>
          <a:p>
            <a:endParaRPr lang="en-US" dirty="0" smtClean="0"/>
          </a:p>
          <a:p>
            <a:r>
              <a:rPr lang="en-US" dirty="0" smtClean="0"/>
              <a:t>Mean Absolute Percentage Error (MAPE) – a measure of prediction accuracy of a forecasting method (expressed in percentages)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539015">
            <a:off x="6598311" y="423305"/>
            <a:ext cx="18892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</a:rPr>
              <a:t>Predictive</a:t>
            </a:r>
            <a:endParaRPr lang="en-US"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5" name="Picture 4" descr="Screen Shot 2015-10-19 at 6.34.54 PM 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229" y="2072822"/>
            <a:ext cx="2489200" cy="495300"/>
          </a:xfrm>
          <a:prstGeom prst="rect">
            <a:avLst/>
          </a:prstGeom>
        </p:spPr>
      </p:pic>
      <p:pic>
        <p:nvPicPr>
          <p:cNvPr id="6" name="Picture 5" descr="Screen Shot 2015-10-19 at 6.35.0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171" y="3697514"/>
            <a:ext cx="2819400" cy="635000"/>
          </a:xfrm>
          <a:prstGeom prst="rect">
            <a:avLst/>
          </a:prstGeom>
        </p:spPr>
      </p:pic>
      <p:pic>
        <p:nvPicPr>
          <p:cNvPr id="7" name="Picture 6" descr="Screen Shot 2015-10-19 at 6.35.08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628" y="5944734"/>
            <a:ext cx="30988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55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 Validation Metrics R-code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Mean</a:t>
            </a:r>
          </a:p>
          <a:p>
            <a:pPr marL="0" indent="0">
              <a:buNone/>
            </a:pPr>
            <a:r>
              <a:rPr lang="en-US" dirty="0" smtClean="0"/>
              <a:t>Squared</a:t>
            </a:r>
          </a:p>
          <a:p>
            <a:pPr marL="0" indent="0">
              <a:buNone/>
            </a:pPr>
            <a:r>
              <a:rPr lang="en-US" dirty="0" smtClean="0"/>
              <a:t>Error</a:t>
            </a:r>
          </a:p>
          <a:p>
            <a:pPr marL="0" indent="0">
              <a:buNone/>
            </a:pPr>
            <a:r>
              <a:rPr lang="en-US" dirty="0" smtClean="0"/>
              <a:t>(MSE)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Package:</a:t>
            </a:r>
          </a:p>
          <a:p>
            <a:pPr marL="0" indent="0">
              <a:buNone/>
            </a:pPr>
            <a:r>
              <a:rPr lang="en-US" dirty="0" err="1" smtClean="0"/>
              <a:t>hydroGOF</a:t>
            </a:r>
            <a:endParaRPr lang="en-US" dirty="0"/>
          </a:p>
        </p:txBody>
      </p:sp>
      <p:pic>
        <p:nvPicPr>
          <p:cNvPr id="5" name="Picture 4" descr="Screen Shot 2015-10-19 at 6.43.2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1" y="1417638"/>
            <a:ext cx="5430157" cy="482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502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Shot 2015-10-19 at 6.49.16 PM.png"/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921" y="1600200"/>
            <a:ext cx="5105246" cy="44656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 Metrics R-code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Root </a:t>
            </a:r>
          </a:p>
          <a:p>
            <a:pPr marL="0" indent="0">
              <a:buNone/>
            </a:pPr>
            <a:r>
              <a:rPr lang="en-US" dirty="0" smtClean="0"/>
              <a:t>Mean </a:t>
            </a:r>
          </a:p>
          <a:p>
            <a:pPr marL="0" indent="0">
              <a:buNone/>
            </a:pPr>
            <a:r>
              <a:rPr lang="en-US" dirty="0" smtClean="0"/>
              <a:t>Squared </a:t>
            </a:r>
          </a:p>
          <a:p>
            <a:pPr marL="0" indent="0">
              <a:buNone/>
            </a:pPr>
            <a:r>
              <a:rPr lang="en-US" dirty="0" smtClean="0"/>
              <a:t>Error </a:t>
            </a:r>
          </a:p>
          <a:p>
            <a:pPr marL="0" indent="0">
              <a:buNone/>
            </a:pPr>
            <a:r>
              <a:rPr lang="en-US" dirty="0" smtClean="0"/>
              <a:t>(RMSE)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Package:</a:t>
            </a:r>
          </a:p>
          <a:p>
            <a:pPr marL="0" indent="0">
              <a:buNone/>
            </a:pPr>
            <a:r>
              <a:rPr lang="en-US" dirty="0" err="1"/>
              <a:t>hydroGOF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7672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Validation Metrics R-code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Root Mean Squared Error (RMSE)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Mean </a:t>
            </a:r>
            <a:r>
              <a:rPr lang="en-US" dirty="0"/>
              <a:t>Absolute Percentage Error (MAPE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Screen Shot 2015-10-19 at 6.57.1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8" y="4243614"/>
            <a:ext cx="3775255" cy="872672"/>
          </a:xfrm>
          <a:prstGeom prst="rect">
            <a:avLst/>
          </a:prstGeom>
        </p:spPr>
      </p:pic>
      <p:pic>
        <p:nvPicPr>
          <p:cNvPr id="5" name="Picture 4" descr="Screen Shot 2015-10-19 at 6.38.3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8" y="2431142"/>
            <a:ext cx="4735287" cy="65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442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Step-wise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Stepwise selection allows for the dropping or adding variables in either direction – forward, backward or both.</a:t>
            </a:r>
          </a:p>
          <a:p>
            <a:r>
              <a:rPr lang="en-US" dirty="0" smtClean="0"/>
              <a:t>Backward stepwise selection – start off in a backward approach and then you add back variables that appear to be significant later on.</a:t>
            </a:r>
          </a:p>
          <a:p>
            <a:r>
              <a:rPr lang="en-US" dirty="0" smtClean="0"/>
              <a:t>In layman terms, the process drops variables and then re-considers significant variables and then allow for re-introduction of them.</a:t>
            </a:r>
          </a:p>
          <a:p>
            <a:r>
              <a:rPr lang="en-US" dirty="0" smtClean="0"/>
              <a:t>Forward stepwise selection – variables will be dropped if they are not significant when compared to other variables added later on in the process.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539015">
            <a:off x="6598314" y="488424"/>
            <a:ext cx="18892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</a:rPr>
              <a:t>Predictive</a:t>
            </a:r>
            <a:endParaRPr lang="en-US"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780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Step-wise Selection R-code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Stepwise Regressi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170" y="2730499"/>
            <a:ext cx="6290608" cy="202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48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Bagging aka Bootstrap Aggregation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Bagging is a method used to reduce over-fitting and reduce variance.</a:t>
            </a:r>
          </a:p>
          <a:p>
            <a:r>
              <a:rPr lang="en-US" dirty="0" smtClean="0"/>
              <a:t>How do you determine if there is a variance? After you split the data and train them, if your predications are difference your data has a variance.</a:t>
            </a:r>
          </a:p>
          <a:p>
            <a:r>
              <a:rPr lang="en-US" dirty="0" smtClean="0"/>
              <a:t>It is used  as a way to improve the generalization by averaging  lots of bootstrapped models. By averaging the models, you lower variance without affecting the bias.  This in turn improves accuracy.</a:t>
            </a:r>
          </a:p>
          <a:p>
            <a:r>
              <a:rPr lang="en-US" dirty="0" smtClean="0"/>
              <a:t>Usually used with decision trees methods.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539015">
            <a:off x="7070471" y="132388"/>
            <a:ext cx="188925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</a:rPr>
              <a:t>Predictive</a:t>
            </a:r>
            <a:endParaRPr lang="en-US" sz="32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9050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Bagging R-code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Needed: libraries for parallel processing</a:t>
            </a:r>
            <a:br>
              <a:rPr lang="en-US" dirty="0"/>
            </a:br>
            <a:r>
              <a:rPr lang="en-US" dirty="0"/>
              <a:t>library(</a:t>
            </a:r>
            <a:r>
              <a:rPr lang="en-US" dirty="0" err="1"/>
              <a:t>foreach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library(</a:t>
            </a:r>
            <a:r>
              <a:rPr lang="en-US" dirty="0" err="1"/>
              <a:t>doMC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registerDoMC</a:t>
            </a:r>
            <a:r>
              <a:rPr lang="en-US" dirty="0"/>
              <a:t>(2) #change the 2 to your number of CPU cores</a:t>
            </a:r>
          </a:p>
          <a:p>
            <a:pPr marL="0" indent="0">
              <a:buNone/>
            </a:pPr>
            <a:r>
              <a:rPr lang="en-US" dirty="0"/>
              <a:t>#function for bagged </a:t>
            </a:r>
            <a:r>
              <a:rPr lang="en-US" dirty="0" err="1"/>
              <a:t>glm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bagReg</a:t>
            </a:r>
            <a:r>
              <a:rPr lang="en-US" dirty="0"/>
              <a:t> &lt;- function(</a:t>
            </a:r>
            <a:r>
              <a:rPr lang="en-US" dirty="0" err="1"/>
              <a:t>string_model</a:t>
            </a:r>
            <a:r>
              <a:rPr lang="en-US" dirty="0"/>
              <a:t>, </a:t>
            </a:r>
            <a:r>
              <a:rPr lang="en-US" dirty="0" err="1"/>
              <a:t>string_train_data_in_model_name</a:t>
            </a:r>
            <a:r>
              <a:rPr lang="en-US" dirty="0"/>
              <a:t>, </a:t>
            </a:r>
            <a:br>
              <a:rPr lang="en-US" dirty="0"/>
            </a:br>
            <a:r>
              <a:rPr lang="en-US" dirty="0" err="1"/>
              <a:t>train_data</a:t>
            </a:r>
            <a:r>
              <a:rPr lang="en-US" dirty="0"/>
              <a:t>, </a:t>
            </a:r>
            <a:r>
              <a:rPr lang="en-US" dirty="0" err="1"/>
              <a:t>test_data</a:t>
            </a:r>
            <a:r>
              <a:rPr lang="en-US" dirty="0"/>
              <a:t>, </a:t>
            </a:r>
            <a:r>
              <a:rPr lang="en-US" dirty="0" err="1"/>
              <a:t>m_trials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 err="1"/>
              <a:t>tmp_model</a:t>
            </a:r>
            <a:r>
              <a:rPr lang="en-US" dirty="0"/>
              <a:t> = sub(pattern=</a:t>
            </a:r>
            <a:r>
              <a:rPr lang="en-US" dirty="0" err="1"/>
              <a:t>string_train_data_in_model_name</a:t>
            </a:r>
            <a:r>
              <a:rPr lang="en-US" dirty="0"/>
              <a:t>, </a:t>
            </a:r>
            <a:br>
              <a:rPr lang="en-US" dirty="0"/>
            </a:br>
            <a:r>
              <a:rPr lang="en-US" dirty="0"/>
              <a:t>replacement="</a:t>
            </a:r>
            <a:r>
              <a:rPr lang="en-US" dirty="0" err="1"/>
              <a:t>train_data</a:t>
            </a:r>
            <a:r>
              <a:rPr lang="en-US" dirty="0"/>
              <a:t>[sample(</a:t>
            </a:r>
            <a:r>
              <a:rPr lang="en-US" dirty="0" err="1"/>
              <a:t>nrow</a:t>
            </a:r>
            <a:r>
              <a:rPr lang="en-US" dirty="0"/>
              <a:t>(</a:t>
            </a:r>
            <a:r>
              <a:rPr lang="en-US" dirty="0" err="1"/>
              <a:t>train_data</a:t>
            </a:r>
            <a:r>
              <a:rPr lang="en-US" dirty="0"/>
              <a:t>),replace=TRUE),]",</a:t>
            </a:r>
            <a:br>
              <a:rPr lang="en-US" dirty="0"/>
            </a:br>
            <a:r>
              <a:rPr lang="en-US" dirty="0"/>
              <a:t>x=</a:t>
            </a:r>
            <a:r>
              <a:rPr lang="en-US" dirty="0" err="1"/>
              <a:t>string_model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vector_trials</a:t>
            </a:r>
            <a:r>
              <a:rPr lang="en-US" dirty="0"/>
              <a:t> = 1:m_trials</a:t>
            </a:r>
            <a:br>
              <a:rPr lang="en-US" dirty="0"/>
            </a:br>
            <a:r>
              <a:rPr lang="en-US" dirty="0" err="1"/>
              <a:t>list_output</a:t>
            </a:r>
            <a:r>
              <a:rPr lang="en-US" dirty="0"/>
              <a:t> = </a:t>
            </a:r>
            <a:r>
              <a:rPr lang="en-US" dirty="0" err="1"/>
              <a:t>foreach</a:t>
            </a:r>
            <a:r>
              <a:rPr lang="en-US" dirty="0"/>
              <a:t>(j=</a:t>
            </a:r>
            <a:r>
              <a:rPr lang="en-US" dirty="0" err="1"/>
              <a:t>vector_trials</a:t>
            </a:r>
            <a:r>
              <a:rPr lang="en-US" dirty="0"/>
              <a:t>, .combine = '+', .</a:t>
            </a:r>
            <a:r>
              <a:rPr lang="en-US" dirty="0" err="1"/>
              <a:t>inorder</a:t>
            </a:r>
            <a:r>
              <a:rPr lang="en-US" dirty="0"/>
              <a:t> = FALSE, .final = function(x) x/</a:t>
            </a:r>
            <a:r>
              <a:rPr lang="en-US" dirty="0" err="1"/>
              <a:t>m_trials</a:t>
            </a:r>
            <a:r>
              <a:rPr lang="en-US" dirty="0"/>
              <a:t>) %</a:t>
            </a:r>
            <a:r>
              <a:rPr lang="en-US" dirty="0" err="1"/>
              <a:t>dopar</a:t>
            </a:r>
            <a:r>
              <a:rPr lang="en-US" dirty="0"/>
              <a:t>% {</a:t>
            </a:r>
            <a:br>
              <a:rPr lang="en-US" dirty="0"/>
            </a:br>
            <a:r>
              <a:rPr lang="en-US" dirty="0" err="1"/>
              <a:t>eval</a:t>
            </a:r>
            <a:r>
              <a:rPr lang="en-US" dirty="0"/>
              <a:t>(parse(text=paste("predict(",tmp_model,",</a:t>
            </a:r>
            <a:r>
              <a:rPr lang="en-US" dirty="0" err="1"/>
              <a:t>test_data</a:t>
            </a:r>
            <a:r>
              <a:rPr lang="en-US" dirty="0"/>
              <a:t>)",</a:t>
            </a:r>
            <a:r>
              <a:rPr lang="en-US" dirty="0" err="1"/>
              <a:t>sep</a:t>
            </a:r>
            <a:r>
              <a:rPr lang="en-US" dirty="0"/>
              <a:t>='')))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return(</a:t>
            </a:r>
            <a:r>
              <a:rPr lang="en-US" dirty="0" err="1"/>
              <a:t>unlist</a:t>
            </a:r>
            <a:r>
              <a:rPr lang="en-US" dirty="0"/>
              <a:t>(</a:t>
            </a:r>
            <a:r>
              <a:rPr lang="en-US" dirty="0" err="1"/>
              <a:t>list_output</a:t>
            </a:r>
            <a:r>
              <a:rPr lang="en-US" dirty="0"/>
              <a:t>))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#example to compare bagged and normal </a:t>
            </a:r>
            <a:r>
              <a:rPr lang="en-US" dirty="0" err="1"/>
              <a:t>glm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#notice </a:t>
            </a:r>
            <a:r>
              <a:rPr lang="en-US" dirty="0" err="1"/>
              <a:t>train_dataXYZ</a:t>
            </a:r>
            <a:r>
              <a:rPr lang="en-US" dirty="0"/>
              <a:t> in model and the </a:t>
            </a:r>
            <a:r>
              <a:rPr lang="en-US" dirty="0" err="1"/>
              <a:t>string_train_data_in_model_name</a:t>
            </a:r>
            <a:r>
              <a:rPr lang="en-US" dirty="0"/>
              <a:t> have to be exactly the same</a:t>
            </a:r>
            <a:br>
              <a:rPr lang="en-US" dirty="0"/>
            </a:br>
            <a:r>
              <a:rPr lang="en-US" dirty="0" err="1"/>
              <a:t>example_prediction</a:t>
            </a:r>
            <a:r>
              <a:rPr lang="en-US" dirty="0"/>
              <a:t> = </a:t>
            </a:r>
            <a:r>
              <a:rPr lang="en-US" dirty="0" err="1"/>
              <a:t>bagReg</a:t>
            </a:r>
            <a:r>
              <a:rPr lang="en-US" dirty="0"/>
              <a:t>(</a:t>
            </a:r>
            <a:r>
              <a:rPr lang="en-US" dirty="0" err="1"/>
              <a:t>string_model</a:t>
            </a:r>
            <a:r>
              <a:rPr lang="en-US" dirty="0"/>
              <a:t> = "</a:t>
            </a:r>
            <a:r>
              <a:rPr lang="en-US" dirty="0" err="1"/>
              <a:t>glm</a:t>
            </a:r>
            <a:r>
              <a:rPr lang="en-US" dirty="0"/>
              <a:t>(formula = mpg ~ </a:t>
            </a:r>
            <a:r>
              <a:rPr lang="en-US" dirty="0" err="1"/>
              <a:t>cyl</a:t>
            </a:r>
            <a:r>
              <a:rPr lang="en-US" dirty="0"/>
              <a:t> + </a:t>
            </a:r>
            <a:r>
              <a:rPr lang="en-US" dirty="0" err="1"/>
              <a:t>hp</a:t>
            </a:r>
            <a:r>
              <a:rPr lang="en-US" dirty="0"/>
              <a:t> + </a:t>
            </a:r>
            <a:r>
              <a:rPr lang="en-US" dirty="0" err="1"/>
              <a:t>wt</a:t>
            </a:r>
            <a:r>
              <a:rPr lang="en-US" dirty="0"/>
              <a:t> + </a:t>
            </a:r>
            <a:r>
              <a:rPr lang="en-US" dirty="0" err="1"/>
              <a:t>qsec</a:t>
            </a:r>
            <a:r>
              <a:rPr lang="en-US" dirty="0"/>
              <a:t> + </a:t>
            </a:r>
            <a:r>
              <a:rPr lang="en-US" dirty="0" err="1"/>
              <a:t>disp</a:t>
            </a:r>
            <a:r>
              <a:rPr lang="en-US" dirty="0"/>
              <a:t>, data = </a:t>
            </a:r>
            <a:r>
              <a:rPr lang="en-US" dirty="0" err="1"/>
              <a:t>train_dataXYZ</a:t>
            </a:r>
            <a:r>
              <a:rPr lang="en-US" dirty="0"/>
              <a:t>)", </a:t>
            </a:r>
            <a:br>
              <a:rPr lang="en-US" dirty="0"/>
            </a:br>
            <a:r>
              <a:rPr lang="en-US" dirty="0" err="1"/>
              <a:t>string_train_data_in_model_name</a:t>
            </a:r>
            <a:r>
              <a:rPr lang="en-US" dirty="0"/>
              <a:t> = "</a:t>
            </a:r>
            <a:r>
              <a:rPr lang="en-US" dirty="0" err="1"/>
              <a:t>train_dataXYZ</a:t>
            </a:r>
            <a:r>
              <a:rPr lang="en-US" dirty="0"/>
              <a:t>",</a:t>
            </a:r>
            <a:br>
              <a:rPr lang="en-US" dirty="0"/>
            </a:br>
            <a:r>
              <a:rPr lang="en-US" dirty="0" err="1"/>
              <a:t>train_data</a:t>
            </a:r>
            <a:r>
              <a:rPr lang="en-US" dirty="0"/>
              <a:t> = </a:t>
            </a:r>
            <a:r>
              <a:rPr lang="en-US" dirty="0" err="1"/>
              <a:t>mtcars</a:t>
            </a:r>
            <a:r>
              <a:rPr lang="en-US" dirty="0"/>
              <a:t>[1:20,], </a:t>
            </a:r>
            <a:r>
              <a:rPr lang="en-US" dirty="0" err="1"/>
              <a:t>test_data</a:t>
            </a:r>
            <a:r>
              <a:rPr lang="en-US" dirty="0"/>
              <a:t> = </a:t>
            </a:r>
            <a:r>
              <a:rPr lang="en-US" dirty="0" err="1"/>
              <a:t>mtcars</a:t>
            </a:r>
            <a:r>
              <a:rPr lang="en-US" dirty="0"/>
              <a:t>[21:32,], </a:t>
            </a:r>
            <a:r>
              <a:rPr lang="en-US" dirty="0" err="1"/>
              <a:t>m_trials</a:t>
            </a:r>
            <a:r>
              <a:rPr lang="en-US" dirty="0"/>
              <a:t>= 300</a:t>
            </a:r>
            <a:br>
              <a:rPr lang="en-US" dirty="0"/>
            </a:b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normal_prediction</a:t>
            </a:r>
            <a:r>
              <a:rPr lang="en-US" dirty="0"/>
              <a:t> = predict(</a:t>
            </a:r>
            <a:r>
              <a:rPr lang="en-US" dirty="0" err="1"/>
              <a:t>glm</a:t>
            </a:r>
            <a:r>
              <a:rPr lang="en-US" dirty="0"/>
              <a:t>(formula = mpg ~ </a:t>
            </a:r>
            <a:r>
              <a:rPr lang="en-US" dirty="0" err="1"/>
              <a:t>cyl</a:t>
            </a:r>
            <a:r>
              <a:rPr lang="en-US" dirty="0"/>
              <a:t> + </a:t>
            </a:r>
            <a:r>
              <a:rPr lang="en-US" dirty="0" err="1"/>
              <a:t>hp</a:t>
            </a:r>
            <a:r>
              <a:rPr lang="en-US" dirty="0"/>
              <a:t> + </a:t>
            </a:r>
            <a:r>
              <a:rPr lang="en-US" dirty="0" err="1"/>
              <a:t>wt</a:t>
            </a:r>
            <a:r>
              <a:rPr lang="en-US" dirty="0"/>
              <a:t> + </a:t>
            </a:r>
            <a:r>
              <a:rPr lang="en-US" dirty="0" err="1"/>
              <a:t>qsec</a:t>
            </a:r>
            <a:r>
              <a:rPr lang="en-US" dirty="0"/>
              <a:t> + </a:t>
            </a:r>
            <a:r>
              <a:rPr lang="en-US" dirty="0" err="1"/>
              <a:t>disp</a:t>
            </a:r>
            <a:r>
              <a:rPr lang="en-US" dirty="0"/>
              <a:t>, data = </a:t>
            </a:r>
            <a:r>
              <a:rPr lang="en-US" dirty="0" err="1"/>
              <a:t>mtcars</a:t>
            </a:r>
            <a:r>
              <a:rPr lang="en-US" dirty="0"/>
              <a:t>[1:20,]), </a:t>
            </a:r>
            <a:r>
              <a:rPr lang="en-US" dirty="0" err="1"/>
              <a:t>mtcars</a:t>
            </a:r>
            <a:r>
              <a:rPr lang="en-US" dirty="0"/>
              <a:t>[21:32,])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3162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Bias </a:t>
            </a:r>
            <a:r>
              <a:rPr lang="en-US" dirty="0" err="1" smtClean="0"/>
              <a:t>vs</a:t>
            </a:r>
            <a:r>
              <a:rPr lang="en-US" dirty="0" smtClean="0"/>
              <a:t> Variance Tradeoff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600198"/>
          <a:ext cx="8229600" cy="1821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331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Error due to BIAS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Error due to VARIANCE</a:t>
                      </a:r>
                      <a:endParaRPr lang="en-US" sz="2400" dirty="0"/>
                    </a:p>
                  </a:txBody>
                  <a:tcPr/>
                </a:tc>
              </a:tr>
              <a:tr h="633186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difference between the expected (or average) prediction of our model and the correct value which we are trying to predict</a:t>
                      </a:r>
                      <a:r>
                        <a:rPr lang="en-US" dirty="0" smtClean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variability of a model prediction for a given data point</a:t>
                      </a:r>
                      <a:r>
                        <a:rPr lang="en-US" dirty="0" smtClean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Bias-Variance Tradeoff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614" y="3621314"/>
            <a:ext cx="41021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23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 of Model Validations in the Real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metric is used in Academia?</a:t>
            </a:r>
          </a:p>
          <a:p>
            <a:pPr lvl="1"/>
            <a:r>
              <a:rPr lang="en-US" dirty="0" smtClean="0"/>
              <a:t>AIC, BIC</a:t>
            </a:r>
          </a:p>
          <a:p>
            <a:r>
              <a:rPr lang="en-US" dirty="0" smtClean="0"/>
              <a:t>What metric is used in Bio Stats?</a:t>
            </a:r>
          </a:p>
          <a:p>
            <a:pPr lvl="1"/>
            <a:r>
              <a:rPr lang="en-US" dirty="0" smtClean="0"/>
              <a:t>Bootstrap Aggregation</a:t>
            </a:r>
          </a:p>
          <a:p>
            <a:r>
              <a:rPr lang="en-US" dirty="0" smtClean="0"/>
              <a:t>What metric is used in Production/industry?</a:t>
            </a:r>
          </a:p>
          <a:p>
            <a:pPr lvl="1"/>
            <a:r>
              <a:rPr lang="en-US" dirty="0" smtClean="0"/>
              <a:t>Cross validation or Step-wise selection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766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hlinkClick r:id="rId2"/>
              </a:rPr>
              <a:t>http://scott.fortmann-roe.com/docs/</a:t>
            </a:r>
            <a:r>
              <a:rPr lang="en-US" dirty="0" smtClean="0">
                <a:hlinkClick r:id="rId2"/>
              </a:rPr>
              <a:t>BiasVariance.html</a:t>
            </a:r>
            <a:endParaRPr lang="en-US" dirty="0" smtClean="0"/>
          </a:p>
          <a:p>
            <a:r>
              <a:rPr lang="en-US" b="1" dirty="0">
                <a:hlinkClick r:id="rId3"/>
              </a:rPr>
              <a:t>https://www.rforge.net/doc/packages/hydroGOF/</a:t>
            </a:r>
            <a:r>
              <a:rPr lang="en-US" b="1" dirty="0" smtClean="0">
                <a:hlinkClick r:id="rId3"/>
              </a:rPr>
              <a:t>mse.html</a:t>
            </a:r>
            <a:endParaRPr lang="en-US" b="1" dirty="0" smtClean="0"/>
          </a:p>
          <a:p>
            <a:r>
              <a:rPr lang="en-US" dirty="0"/>
              <a:t>http://</a:t>
            </a:r>
            <a:r>
              <a:rPr lang="en-US" dirty="0" err="1"/>
              <a:t>www.stat.ubc.ca</a:t>
            </a:r>
            <a:r>
              <a:rPr lang="en-US" dirty="0"/>
              <a:t>/~</a:t>
            </a:r>
            <a:r>
              <a:rPr lang="en-US" dirty="0" err="1"/>
              <a:t>rollin</a:t>
            </a:r>
            <a:r>
              <a:rPr lang="en-US" dirty="0"/>
              <a:t>/teach/643w04/</a:t>
            </a:r>
            <a:r>
              <a:rPr lang="en-US" dirty="0" err="1"/>
              <a:t>lec</a:t>
            </a:r>
            <a:r>
              <a:rPr lang="en-US" dirty="0"/>
              <a:t>/node43.html </a:t>
            </a:r>
            <a:endParaRPr lang="en-US" dirty="0" smtClean="0"/>
          </a:p>
          <a:p>
            <a:r>
              <a:rPr lang="en-US" dirty="0" smtClean="0"/>
              <a:t>http</a:t>
            </a:r>
            <a:r>
              <a:rPr lang="en-US" dirty="0"/>
              <a:t>://</a:t>
            </a:r>
            <a:r>
              <a:rPr lang="en-US" dirty="0" err="1"/>
              <a:t>scikit-learn.org</a:t>
            </a:r>
            <a:r>
              <a:rPr lang="en-US" dirty="0"/>
              <a:t>/stable/modules/</a:t>
            </a:r>
            <a:r>
              <a:rPr lang="en-US" dirty="0" err="1" smtClean="0"/>
              <a:t>learning_curve.html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users.cecs.anu.edu.au</a:t>
            </a:r>
            <a:r>
              <a:rPr lang="en-US" dirty="0"/>
              <a:t>/~</a:t>
            </a:r>
            <a:r>
              <a:rPr lang="en-US" dirty="0" err="1"/>
              <a:t>jdomke</a:t>
            </a:r>
            <a:r>
              <a:rPr lang="en-US" dirty="0"/>
              <a:t>/courses/sml2011/02overfitting.pdf </a:t>
            </a:r>
            <a:endParaRPr lang="en-US" dirty="0" smtClean="0"/>
          </a:p>
          <a:p>
            <a:r>
              <a:rPr lang="en-US" u="sng" dirty="0">
                <a:hlinkClick r:id="rId4"/>
              </a:rPr>
              <a:t>http://scikit-learn.org/stable/modules/cross_validation.html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b="1" dirty="0"/>
              <a:t>http://</a:t>
            </a:r>
            <a:r>
              <a:rPr lang="en-US" b="1" dirty="0" err="1"/>
              <a:t>www.link.ch</a:t>
            </a:r>
            <a:r>
              <a:rPr lang="en-US" b="1" dirty="0"/>
              <a:t>/</a:t>
            </a:r>
            <a:r>
              <a:rPr lang="en-US" b="1" dirty="0" err="1"/>
              <a:t>wp</a:t>
            </a:r>
            <a:r>
              <a:rPr lang="en-US" b="1" dirty="0"/>
              <a:t>-content/uploads/2013/10/</a:t>
            </a:r>
            <a:r>
              <a:rPr lang="en-US" b="1" dirty="0" err="1"/>
              <a:t>CrossValidationFinal.pdf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03613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1629</Words>
  <Application>Microsoft Office PowerPoint</Application>
  <PresentationFormat>On-screen Show (4:3)</PresentationFormat>
  <Paragraphs>301</Paragraphs>
  <Slides>49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andale mono</vt:lpstr>
      <vt:lpstr>Arial</vt:lpstr>
      <vt:lpstr>Calibri</vt:lpstr>
      <vt:lpstr>Office Theme</vt:lpstr>
      <vt:lpstr>Explanatory and Predictive Modelling</vt:lpstr>
      <vt:lpstr>Statistical Model and Computation</vt:lpstr>
      <vt:lpstr> </vt:lpstr>
      <vt:lpstr>CRISP-DM</vt:lpstr>
      <vt:lpstr>Tasks for data mining</vt:lpstr>
      <vt:lpstr>Explanatory Modelling</vt:lpstr>
      <vt:lpstr>Predictive Modelling</vt:lpstr>
      <vt:lpstr>Explanatory Vs Predictive Modelling</vt:lpstr>
      <vt:lpstr>Explanatory Vs Predictive Modelling</vt:lpstr>
      <vt:lpstr>Explanatory Vs Predictive Modelling</vt:lpstr>
      <vt:lpstr>Applications of Explanatory models</vt:lpstr>
      <vt:lpstr>Applications of Predictive models</vt:lpstr>
      <vt:lpstr>  Predictive Models</vt:lpstr>
      <vt:lpstr>Bootstrapping</vt:lpstr>
      <vt:lpstr>Bootstrapping in R</vt:lpstr>
      <vt:lpstr>Random Forests</vt:lpstr>
      <vt:lpstr>Conditional Inference Trees</vt:lpstr>
      <vt:lpstr>Support Vector Machines</vt:lpstr>
      <vt:lpstr>SVM in R</vt:lpstr>
      <vt:lpstr>Nonparametric Regression</vt:lpstr>
      <vt:lpstr>Explanatory Models</vt:lpstr>
      <vt:lpstr>Linear Regression</vt:lpstr>
      <vt:lpstr>Correlation Analysis</vt:lpstr>
      <vt:lpstr>Naive Bayes Classifier</vt:lpstr>
      <vt:lpstr>Decision Tree</vt:lpstr>
      <vt:lpstr>T-Test</vt:lpstr>
      <vt:lpstr>T-Test in R</vt:lpstr>
      <vt:lpstr>ANOVA</vt:lpstr>
      <vt:lpstr>ANOVA in R</vt:lpstr>
      <vt:lpstr>Types of Model Validation</vt:lpstr>
      <vt:lpstr>P-Value</vt:lpstr>
      <vt:lpstr>P-Value R Code</vt:lpstr>
      <vt:lpstr>R2 &amp; Adjusted R2</vt:lpstr>
      <vt:lpstr>R2 &amp; Adjusted R2 R-Code</vt:lpstr>
      <vt:lpstr>AIC &amp; BIC </vt:lpstr>
      <vt:lpstr>AIC &amp; BIC R-Code</vt:lpstr>
      <vt:lpstr>K-Fold Cross Validation</vt:lpstr>
      <vt:lpstr>K-fold Cross Validation R-Code</vt:lpstr>
      <vt:lpstr>Cross Validation Metrics</vt:lpstr>
      <vt:lpstr>Cross Validation Metrics R-code</vt:lpstr>
      <vt:lpstr>Cross Validation Metrics R-code</vt:lpstr>
      <vt:lpstr>Cross Validation Metrics R-code</vt:lpstr>
      <vt:lpstr>Step-wise Selection</vt:lpstr>
      <vt:lpstr>Step-wise Selection R-code</vt:lpstr>
      <vt:lpstr>Bagging aka Bootstrap Aggregation</vt:lpstr>
      <vt:lpstr>Bagging R-code</vt:lpstr>
      <vt:lpstr>Bias vs Variance Tradeoff</vt:lpstr>
      <vt:lpstr>Application of Model Validations in the Real World</vt:lpstr>
      <vt:lpstr>Appendix</vt:lpstr>
    </vt:vector>
  </TitlesOfParts>
  <Company>University of South Florida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Todd</dc:creator>
  <cp:lastModifiedBy>Naveen Kumar</cp:lastModifiedBy>
  <cp:revision>28</cp:revision>
  <dcterms:created xsi:type="dcterms:W3CDTF">2012-01-11T16:22:55Z</dcterms:created>
  <dcterms:modified xsi:type="dcterms:W3CDTF">2015-10-20T06:38:56Z</dcterms:modified>
</cp:coreProperties>
</file>